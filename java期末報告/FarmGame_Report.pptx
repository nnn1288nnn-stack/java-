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88952" cy="3200400"/>
          </a:xfrm>
          <a:prstGeom prst="rect">
            <a:avLst/>
          </a:prstGeom>
          <a:solidFill>
            <a:srgbClr val="27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88952" cy="7315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B71"/>
                </a:solidFill>
                <a:latin typeface="微軟正黑體"/>
              </a:defRPr>
            </a:pPr>
            <a:r>
              <a:t>🌾 農場物語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微軟正黑體"/>
              </a:defRPr>
            </a:pPr>
            <a:r>
              <a:t>以 Java Swing/AWT 實作之 2D 簡易農場遊戲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C784"/>
                </a:solidFill>
                <a:latin typeface="微軟正黑體"/>
              </a:defRPr>
            </a:pPr>
            <a:r>
              <a:t>靈感源自《星露谷物語》(Stardew Valley) 核心玩法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目錄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本報告導覽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  <a:latin typeface="微軟正黑體"/>
              </a:defRPr>
            </a:pPr>
            <a:r>
              <a:t>1. 專案概述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  <a:latin typeface="微軟正黑體"/>
              </a:defRPr>
            </a:pPr>
            <a:r>
              <a:t>2. 開發環境與工具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  <a:latin typeface="微軟正黑體"/>
              </a:defRPr>
            </a:pPr>
            <a:r>
              <a:t>3. 系統架構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  <a:latin typeface="微軟正黑體"/>
              </a:defRPr>
            </a:pPr>
            <a:r>
              <a:t>4. 核心類別說明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  <a:latin typeface="微軟正黑體"/>
              </a:defRPr>
            </a:pPr>
            <a:r>
              <a:t>5. 耕作流程與狀態機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  <a:latin typeface="微軟正黑體"/>
              </a:defRPr>
            </a:pPr>
            <a:r>
              <a:t>6. 操作說明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  <a:latin typeface="微軟正黑體"/>
              </a:defRPr>
            </a:pPr>
            <a:r>
              <a:t>7. 成果展示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  <a:latin typeface="微軟正黑體"/>
              </a:defRPr>
            </a:pPr>
            <a:r>
              <a:t>8. 未來展望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專案概述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▸ 使用 Java Swing / AWT 開發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▸ 800 × 600 固定大小遊戲視窗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▸ 60 FPS 固定幀率遊戲主迴圈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▸ 25 × 19 網格地圖（32×32 px / 格）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▸ WASD 網格移動 + 碰撞偵測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▸ 完整農耕流程：翻土→播種→澆水→成長→收成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▸ 背包系統 + 金幣經濟 + 出貨箱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5029200" cy="2286000"/>
          </a:xfrm>
          <a:prstGeom prst="rect">
            <a:avLst/>
          </a:prstGeom>
          <a:solidFill>
            <a:srgbClr val="2D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微軟正黑體"/>
              </a:defRPr>
            </a:pPr>
            <a:r>
              <a:t>✨ 核心功能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✔ 玩家角色繪製與面向指示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✔ 兩種地形：草地（可通行／可耕作）、圍牆（障礙物）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✔ 六階段農場狀態機 (FarmState)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✔ 時間驅動的作物成長系統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✔ 即時操作提示 (Toast)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4206240"/>
            <a:ext cx="5029200" cy="2103120"/>
          </a:xfrm>
          <a:prstGeom prst="rect">
            <a:avLst/>
          </a:prstGeom>
          <a:solidFill>
            <a:srgbClr val="2D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微軟正黑體"/>
              </a:defRPr>
            </a:pPr>
            <a:r>
              <a:t>📊 專案統計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• 7 個 Java 類別檔案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• 總計約 690 行程式碼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• 套件結構：farmgame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• 純 JDK 開發，無外部依賴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開發環境與工具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Development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CCCCC"/>
                </a:solidFill>
                <a:latin typeface="微軟正黑體"/>
              </a:defRPr>
            </a:pPr>
            <a:r>
              <a:t>語言：Java 21 (JDK 21 LTS, Eclipse Temurin)</a:t>
            </a:r>
          </a:p>
          <a:p>
            <a:pPr>
              <a:spcAft>
                <a:spcPts val="1000"/>
              </a:spcAft>
              <a:defRPr sz="1800">
                <a:solidFill>
                  <a:srgbClr val="CCCCCC"/>
                </a:solidFill>
                <a:latin typeface="微軟正黑體"/>
              </a:defRPr>
            </a:pPr>
            <a:r>
              <a:t>圖形 API：Swing / AWT（標準 JDK 函式庫）</a:t>
            </a:r>
          </a:p>
          <a:p>
            <a:pPr>
              <a:spcAft>
                <a:spcPts val="1000"/>
              </a:spcAft>
              <a:defRPr sz="1800">
                <a:solidFill>
                  <a:srgbClr val="CCCCCC"/>
                </a:solidFill>
                <a:latin typeface="微軟正黑體"/>
              </a:defRPr>
            </a:pPr>
            <a:r>
              <a:t>IDE：VS Code / 命令列</a:t>
            </a:r>
          </a:p>
          <a:p>
            <a:pPr>
              <a:spcAft>
                <a:spcPts val="1000"/>
              </a:spcAft>
              <a:defRPr sz="1800">
                <a:solidFill>
                  <a:srgbClr val="CCCCCC"/>
                </a:solidFill>
                <a:latin typeface="微軟正黑體"/>
              </a:defRPr>
            </a:pPr>
            <a:r>
              <a:t>作業系統：Windows 11</a:t>
            </a:r>
          </a:p>
          <a:p>
            <a:pPr>
              <a:spcAft>
                <a:spcPts val="1000"/>
              </a:spcAft>
              <a:defRPr sz="1800">
                <a:solidFill>
                  <a:srgbClr val="CCCCCC"/>
                </a:solidFill>
                <a:latin typeface="微軟正黑體"/>
              </a:defRPr>
            </a:pPr>
            <a:r>
              <a:t>建置方式：javac 直接編譯（無 Maven／Gradle）</a:t>
            </a:r>
          </a:p>
          <a:p>
            <a:pPr>
              <a:spcAft>
                <a:spcPts val="1000"/>
              </a:spcAft>
              <a:defRPr sz="1800">
                <a:solidFill>
                  <a:srgbClr val="CCCCCC"/>
                </a:solidFill>
                <a:latin typeface="微軟正黑體"/>
              </a:defRPr>
            </a:pPr>
            <a:r>
              <a:t>啟動方式：java -cp bin farmgame.Main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solidFill>
            <a:srgbClr val="2D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D5"/>
                </a:solidFill>
                <a:latin typeface="微軟正黑體"/>
              </a:defRPr>
            </a:pPr>
            <a:r>
              <a:t>📁 專案目錄結構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java/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├── src/farmgame/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│   ├── Main.java          — 遊戲入口（JFrame）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│   ├── GamePanel.java     — 遊戲迴圈 + 輸入 + UI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│   ├── Player.java        — 玩家角色與碰撞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│   ├── Tile.java          — 網格單元 + 狀態機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│   ├── GameMap.java       — 二維地圖 + 成長邏輯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│   ├── Inventory.java     — 背包（金幣／作物）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│   └── ShippingBin.java   — 出貨箱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├── bin/                   — 編譯後 bytecode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├── compile.bat</a:t>
            </a:r>
          </a:p>
          <a:p>
            <a:pPr>
              <a:spcAft>
                <a:spcPts val="100"/>
              </a:spcAft>
              <a:defRPr sz="1300">
                <a:solidFill>
                  <a:srgbClr val="CCCCCC"/>
                </a:solidFill>
                <a:latin typeface="微軟正黑體"/>
              </a:defRPr>
            </a:pPr>
            <a:r>
              <a:t> └── run.bat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645920"/>
            <a:ext cx="1645920" cy="914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828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Main.java</a:t>
            </a:r>
            <a:br/>
            <a:r>
              <a:t>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645920"/>
            <a:ext cx="4572000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GamePanel.java (遊戲主面板)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A38"/>
                </a:solidFill>
                <a:latin typeface="微軟正黑體"/>
              </a:defRPr>
            </a:pPr>
            <a:r>
              <a:t>遊戲迴圈 · 按鍵輸入 · 邏輯更新 · 渲染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2377440" cy="1188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Tile.java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地形列舉 + 農場狀態機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00400"/>
            <a:ext cx="2377440" cy="1188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Player.java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703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網格移動 + 碰撞偵測 + 繪製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200400"/>
            <a:ext cx="2377440" cy="1188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GameMap.java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703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二維地圖 + 成長更新 + 渲染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200400"/>
            <a:ext cx="237744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Inventory.java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703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背包 + 金幣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663440"/>
            <a:ext cx="237744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ShippingBin.java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出貨箱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  <a:r>
              <a:t>▸ 各類別均為 package farmgame 下的獨立檔案，職責單一</a:t>
            </a:r>
            <a:br/>
            <a:r>
              <a:t>▸ GamePanel 持有所有遊戲物件的參考，作為中央調度者</a:t>
            </a:r>
            <a:br/>
            <a:r>
              <a:t>▸ 渲染層次：地圖 → 出貨箱 → 玩家 → UI 疊層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核心類別：Main.java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遊戲入口 — JFrame 視窗啟動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029200" cy="41148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7548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package farmgame;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import javax.swing.*;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public class Main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try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UIManager.setLookAndFeel(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    UIManager.getSystemLookAndFeelClassName());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} catch (Exception ignored) {}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JFrame frame = new JFrame("農場物語 - 簡易農場遊戲");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frame.setDefaultCloseOperation(JFrame.EXIT_ON_CLOSE);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frame.setResizable(false);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GamePanel panel = new GamePanel();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frame.add(panel);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frame.pack();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frame.setLocationRelativeTo(null);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frame.setVisible(true);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  <a:r>
              <a:t>職責：</a:t>
            </a:r>
            <a:br/>
            <a:br/>
            <a:r>
              <a:t>• 建立主視窗 JFrame，標題為「農場物語 - 簡易農場遊戲」</a:t>
            </a:r>
            <a:br/>
            <a:br/>
            <a:r>
              <a:t>• 設定系統原生外觀 (System Look &amp; Feel)</a:t>
            </a:r>
            <a:br/>
            <a:br/>
            <a:r>
              <a:t>• 建立 GamePanel 實例並加入視窗</a:t>
            </a:r>
            <a:br/>
            <a:br/>
            <a:r>
              <a:t>• pack() 自動調整視窗大小為 800×600</a:t>
            </a:r>
            <a:br/>
            <a:br/>
            <a:r>
              <a:t>• setLocationRelativeTo(null) 將視窗置中</a:t>
            </a:r>
            <a:br/>
            <a:br/>
            <a:r>
              <a:t>• 視窗不可縮放 (setResizable(false))</a:t>
            </a:r>
            <a:br/>
            <a:br/>
            <a:r>
              <a:t>特點：</a:t>
            </a:r>
            <a:br/>
            <a:r>
              <a:t>• 僅 25 行，簡潔的入口點</a:t>
            </a:r>
            <a:br/>
            <a:r>
              <a:t>• 無外部依賴，純 JDK 即可編譯執行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核心類別：GamePanel.java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遊戲主迴圈 (Game Loop) — 60 FPS 固定幀率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public class GamePanel extends JPanel implements Runnable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private Thread gameThread;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private static final int TARGET_FPS = 60;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private static final long FRAME_MS = 1000 / TARGET_FPS;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private void startGameLoop()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running = true;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gameThread = new Thread(this, "GameLoop");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gameThread.start();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@Override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void run()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long lastTime = System.nanoTime();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while (running)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long now   = System.nanoTime();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long delta = (now - lastTime) / 1_000_000;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lastTime   = now;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if (delta &gt; 200) delta = 200;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update(delta);  // 邏輯更新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repaint();      // 請求重繪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long elapsed = (System.nanoTime()-now)/1_000_000;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long sleep = FRAME_MS - elapsed;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if (sleep &gt; 0) Thread.sleep(sleep);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  <a:r>
              <a:t>設計要點：</a:t>
            </a:r>
            <a:br/>
            <a:br/>
            <a:r>
              <a:t>❶ 獨立執行緒</a:t>
            </a:r>
            <a:br/>
            <a:r>
              <a:t>   遊戲邏輯不在 EDT 執行，避免阻塞 UI</a:t>
            </a:r>
            <a:br/>
            <a:br/>
            <a:r>
              <a:t>❷ Delta Time 機制</a:t>
            </a:r>
            <a:br/>
            <a:r>
              <a:t>   以 System.nanoTime() 計算每幀時間差</a:t>
            </a:r>
            <a:br/>
            <a:r>
              <a:t>   使成長計時不受 FPS 波動影響</a:t>
            </a:r>
            <a:br/>
            <a:br/>
            <a:r>
              <a:t>❸ 幀率控制</a:t>
            </a:r>
            <a:br/>
            <a:r>
              <a:t>   目標 60 FPS，每幀 ≈ 16.67 ms</a:t>
            </a:r>
            <a:br/>
            <a:r>
              <a:t>   計算本次耗時後補眠 (Thread.sleep)</a:t>
            </a:r>
            <a:br/>
            <a:br/>
            <a:r>
              <a:t>❹ 防跳幀</a:t>
            </a:r>
            <a:br/>
            <a:r>
              <a:t>   if (delta &gt; 200) delta = 200</a:t>
            </a:r>
            <a:br/>
            <a:r>
              <a:t>   避免長時間卡頓後瞬間推進多個階段</a:t>
            </a:r>
            <a:br/>
            <a:br/>
            <a:r>
              <a:t>❺ 更新流程</a:t>
            </a:r>
            <a:br/>
            <a:r>
              <a:t>   update(delta) → 移動、工具、成長</a:t>
            </a:r>
            <a:br/>
            <a:r>
              <a:t>   repaint()     → paintComponent 繪製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核心類別：GamePanel.java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按鍵輸入處理 (KeyListener + Edge Trigger)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6DB74"/>
                </a:solidFill>
                <a:latin typeface="Consolas"/>
              </a:defRPr>
            </a:pPr>
            <a:r>
              <a:t>// 連續按壓（移動）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private boolean upHeld, downHeld, leftHeld, rightHeld;</a:t>
            </a:r>
          </a:p>
          <a:p>
            <a:pPr>
              <a:spcAft>
                <a:spcPts val="100"/>
              </a:spcAft>
              <a:defRPr sz="1100">
                <a:solidFill>
                  <a:srgbClr val="E6DB74"/>
                </a:solidFill>
                <a:latin typeface="Consolas"/>
              </a:defRPr>
            </a:pPr>
            <a:r>
              <a:t>// 單次動作（邊緣觸發）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private boolean actionPressed, actionPrev;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keyPressed(KeyEvent e)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switch (e.getKeyCode())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case VK_W -&gt; { upHeld = true; direction = 0;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case VK_J -&gt; actionPressed = true;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case VK_K -&gt; seedPressed = true;</a:t>
            </a:r>
          </a:p>
          <a:p>
            <a:pPr>
              <a:spcAft>
                <a:spcPts val="100"/>
              </a:spcAft>
              <a:defRPr sz="1100">
                <a:solidFill>
                  <a:srgbClr val="E6DB74"/>
                </a:solidFill>
                <a:latin typeface="Consolas"/>
              </a:defRPr>
            </a:pPr>
            <a:r>
              <a:t>        // ...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6DB74"/>
                </a:solidFill>
                <a:latin typeface="Consolas"/>
              </a:defRPr>
            </a:pPr>
            <a:r>
              <a:t>// Edge-triggered update block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if (actionPressed &amp;&amp; !actionPrev) useAction();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if (seedPressed   &amp;&amp; !seedPrev)   useSeeds();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if (waterPressed  &amp;&amp; !waterPrev)  useWateringCan();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actionPrev = actionPressed;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seedPrev   = seedPressed;</a:t>
            </a:r>
          </a:p>
          <a:p>
            <a:pPr>
              <a:spcAft>
                <a:spcPts val="100"/>
              </a:spcAft>
              <a:defRPr sz="1100">
                <a:solidFill>
                  <a:srgbClr val="E6DB74"/>
                </a:solidFill>
                <a:latin typeface="Consolas"/>
              </a:defRPr>
            </a:pPr>
            <a:r>
              <a:t>//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  <a:r>
              <a:t>設計要點：</a:t>
            </a:r>
            <a:br/>
            <a:br/>
            <a:r>
              <a:t>❶ 雙模式按鍵</a:t>
            </a:r>
            <a:br/>
            <a:r>
              <a:t>   • 移動鍵 (WASD)：boolean held</a:t>
            </a:r>
            <a:br/>
            <a:r>
              <a:t>     持續按壓時為 true，釋放時為 false</a:t>
            </a:r>
            <a:br/>
            <a:br/>
            <a:r>
              <a:t>   • 動作鍵 (J/K/L/E)：edge-trigger</a:t>
            </a:r>
            <a:br/>
            <a:r>
              <a:t>     只在「按下瞬間」觸發一次</a:t>
            </a:r>
            <a:br/>
            <a:br/>
            <a:r>
              <a:t>❷ 邊緣觸發 (Edge Trigger)</a:t>
            </a:r>
            <a:br/>
            <a:r>
              <a:t>   使用 _Pressed / _Prev 配對：</a:t>
            </a:r>
            <a:br/>
            <a:r>
              <a:t>   if (actionPressed &amp;&amp; !actionPrev) → 只執行一次</a:t>
            </a:r>
            <a:br/>
            <a:r>
              <a:t>   避免 OS 按鍵重複觸發多次動作</a:t>
            </a:r>
            <a:br/>
            <a:br/>
            <a:r>
              <a:t>❸ 移動冷卻 (Move Cooldown)</a:t>
            </a:r>
            <a:br/>
            <a:r>
              <a:t>   MOVE_INTERVAL_MS = 130ms</a:t>
            </a:r>
            <a:br/>
            <a:r>
              <a:t>   每 130ms 才可移動一格</a:t>
            </a:r>
            <a:br/>
            <a:r>
              <a:t>   防止按住時 60fps 瞬間飛越整個地圖</a:t>
            </a:r>
            <a:br/>
            <a:br/>
            <a:r>
              <a:t>❹ Toast 提示系統</a:t>
            </a:r>
            <a:br/>
            <a:r>
              <a:t>   每次操作顯示 2.5 秒訊息回饋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核心類別：Player.java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玩家角色 — 網格移動與視覺繪製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029200" cy="32004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7548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public class Player {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public int gridRow, gridCol;  // 網格座標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public int direction = 1;     // 0=上 1=下 2=左 3=右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public void move(int dRow, int dCol) {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int tr = gridRow + dRow;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int tc = gridCol + dCol;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if (gameMap.isWalkable(tr, tc)) {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gridRow = tr;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gridCol = tc;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public void render(Graphics g) {</a:t>
            </a:r>
          </a:p>
          <a:p>
            <a:pPr>
              <a:spcAft>
                <a:spcPts val="100"/>
              </a:spcAft>
              <a:defRPr sz="1200">
                <a:solidFill>
                  <a:srgbClr val="E6DB74"/>
                </a:solidFill>
                <a:latin typeface="Consolas"/>
              </a:defRPr>
            </a:pPr>
            <a:r>
              <a:t>        // 藍色襯衫 + 膚色頭部 + 黑色眼睛</a:t>
            </a:r>
          </a:p>
          <a:p>
            <a:pPr>
              <a:spcAft>
                <a:spcPts val="100"/>
              </a:spcAft>
              <a:defRPr sz="1200">
                <a:solidFill>
                  <a:srgbClr val="E6DB74"/>
                </a:solidFill>
                <a:latin typeface="Consolas"/>
              </a:defRPr>
            </a:pPr>
            <a:r>
              <a:t>        // 面向箭頭（白色三角形）</a:t>
            </a:r>
          </a:p>
          <a:p>
            <a:pPr>
              <a:spcAft>
                <a:spcPts val="100"/>
              </a:spcAft>
              <a:defRPr sz="1200">
                <a:solidFill>
                  <a:srgbClr val="E6DB74"/>
                </a:solidFill>
                <a:latin typeface="Consolas"/>
              </a:defRPr>
            </a:pPr>
            <a:r>
              <a:t>        // 除錯：黃色邊框高亮所在格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  <a:r>
              <a:t>設計要點：</a:t>
            </a:r>
            <a:br/>
            <a:br/>
            <a:r>
              <a:t>❶ 網格座標系統</a:t>
            </a:r>
            <a:br/>
            <a:r>
              <a:t>   gridRow / gridCol 定位在 25×19 網格中</a:t>
            </a:r>
            <a:br/>
            <a:r>
              <a:t>   非像素座標，簡化碰撞與互動計算</a:t>
            </a:r>
            <a:br/>
            <a:br/>
            <a:r>
              <a:t>❷ Grid-based 移動</a:t>
            </a:r>
            <a:br/>
            <a:r>
              <a:t>   一次移動一整格 (32×32 px)</a:t>
            </a:r>
            <a:br/>
            <a:r>
              <a:t>   搭配 GameMap.isWalkable() 檢查目標格</a:t>
            </a:r>
            <a:br/>
            <a:br/>
            <a:r>
              <a:t>❸ 碰撞偵測</a:t>
            </a:r>
            <a:br/>
            <a:r>
              <a:t>   isWalkable = TileType != WALL</a:t>
            </a:r>
            <a:br/>
            <a:r>
              <a:t>   越界自動回傳 false</a:t>
            </a:r>
            <a:br/>
            <a:br/>
            <a:r>
              <a:t>❹ 面向系統</a:t>
            </a:r>
            <a:br/>
            <a:r>
              <a:t>   direction 影響工具使用的目標格</a:t>
            </a:r>
            <a:br/>
            <a:r>
              <a:t>   渲染時以白色小箭頭指示面向</a:t>
            </a:r>
            <a:br/>
            <a:br/>
            <a:r>
              <a:t>❺ 繪製層次</a:t>
            </a:r>
            <a:br/>
            <a:r>
              <a:t>   頭部 → 身體 → 眼睛 → 面向箭頭</a:t>
            </a:r>
            <a:br/>
            <a:r>
              <a:t>   全部使用純 AWT Graphics2D 繪圖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核心類別：Tile.java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網格單元 — 地形列舉 + 農場狀態機 (State Machine)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public class Tile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enum TileType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GRASS,  // 草地（可通行、可耕作）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WALL    // 障礙物（不可通行）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enum FarmState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NONE,    // 一般草地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TILLED,  // 已翻土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PLANTED, // 已播種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WATERED, // 已澆水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GROWING, // 成長中（4階段）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MATURE   // 成熟可收成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TileType type;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FarmState farmState = NONE;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String cropType = "";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int growthStage = 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int growthTimerMs = 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static final int TIME_WATERED_TO_GROWING = 10000;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static final int TIME_PER_GROWTH_STAGE = 2500;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static final int TOTAL_GROWTH_STAGES = 4;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  <a:r>
              <a:t>設計要點：</a:t>
            </a:r>
            <a:br/>
            <a:br/>
            <a:r>
              <a:t>❶ 雙列舉結構</a:t>
            </a:r>
            <a:br/>
            <a:r>
              <a:t>   TileType：定義地形本質（不變）</a:t>
            </a:r>
            <a:br/>
            <a:r>
              <a:t>   FarmState：定義農場狀態（可變）</a:t>
            </a:r>
            <a:br/>
            <a:r>
              <a:t>   分離「是什麼」與「變成什麼」</a:t>
            </a:r>
            <a:br/>
            <a:br/>
            <a:r>
              <a:t>❷ 六階段狀態機</a:t>
            </a:r>
            <a:br/>
            <a:r>
              <a:t>   NONE → TILLED → PLANTED → WATERED</a:t>
            </a:r>
            <a:br/>
            <a:r>
              <a:t>   → GROWING(stage 1~4) → MATURE</a:t>
            </a:r>
            <a:br/>
            <a:r>
              <a:t>   每個階段僅接受特定輸入轉換</a:t>
            </a:r>
            <a:br/>
            <a:br/>
            <a:r>
              <a:t>❸ 時間驅動成長</a:t>
            </a:r>
            <a:br/>
            <a:r>
              <a:t>   • 澆水後 10 秒萌芽 (GROWING stage 1)</a:t>
            </a:r>
            <a:br/>
            <a:r>
              <a:t>   • 每 2.5 秒成長一個階段</a:t>
            </a:r>
            <a:br/>
            <a:r>
              <a:t>   • 4 階段後成熟 (MATURE)</a:t>
            </a:r>
            <a:br/>
            <a:br/>
            <a:r>
              <a:t>❹ 擴充性</a:t>
            </a:r>
            <a:br/>
            <a:r>
              <a:t>   可輕易新增作物種類、</a:t>
            </a:r>
            <a:br/>
            <a:r>
              <a:t>   不同成長時間、更多地形類型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核心類別：GameMap.java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二維地圖 — 生成、成長、渲染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public class GameMap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static final int TILE_SIZE = 32;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static final int COLS = 25, ROWS = 19;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private final Tile[][] tiles;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GameMap() {</a:t>
            </a:r>
          </a:p>
          <a:p>
            <a:pPr>
              <a:spcAft>
                <a:spcPts val="100"/>
              </a:spcAft>
              <a:defRPr sz="1100">
                <a:solidFill>
                  <a:srgbClr val="E6DB74"/>
                </a:solidFill>
                <a:latin typeface="Consolas"/>
              </a:defRPr>
            </a:pPr>
            <a:r>
              <a:t>        // 邊界 WALL，內部 GRASS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tiles = new Tile[ROWS][COLS];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for (int r...) for (int c...)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tiles[r][c] = new Tile(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    (r==0||r==ROWS-1||c==0||c==COLS-1)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    ? WALL : GRASS);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void updateGrowth(long deltaMs)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for each tile: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if WATERED+crop → timer+=delta,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 if timer≥10s → GROWING stage1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if GROWING → timer+=delta,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 if timer≥2.5s → next stage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void render(Graphics g)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for each tile: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draw base (WALL/GRASS)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if farmState != NONE: draw overlay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draw grid lines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  <a:r>
              <a:t>設計要點：</a:t>
            </a:r>
            <a:br/>
            <a:br/>
            <a:r>
              <a:t>❶ 二維陣列 (Tile[19][25])</a:t>
            </a:r>
            <a:br/>
            <a:r>
              <a:t>   共 475 格，每格 32×32 像素</a:t>
            </a:r>
            <a:br/>
            <a:br/>
            <a:r>
              <a:t>❷ 地圖生成</a:t>
            </a:r>
            <a:br/>
            <a:r>
              <a:t>   邊界自動設為 WALL（圍牆）</a:t>
            </a:r>
            <a:br/>
            <a:r>
              <a:t>   內部全部 GRASS（草地）</a:t>
            </a:r>
            <a:br/>
            <a:br/>
            <a:r>
              <a:t>❸ 成長系統 (updateGrowth)</a:t>
            </a:r>
            <a:br/>
            <a:r>
              <a:t>   遍歷每格，根據 FarmState 累計時間</a:t>
            </a:r>
            <a:br/>
            <a:r>
              <a:t>   時間到則轉換狀態 / 推進階段</a:t>
            </a:r>
            <a:br/>
            <a:br/>
            <a:r>
              <a:t>❹ 渲染層次</a:t>
            </a:r>
            <a:br/>
            <a:r>
              <a:t>   基底（WALL 棕色 / GRASS 綠色）</a:t>
            </a:r>
            <a:br/>
            <a:r>
              <a:t>   → 農場疊層（犁溝、種子、水光、作物）</a:t>
            </a:r>
            <a:br/>
            <a:r>
              <a:t>   → 極淡網格線</a:t>
            </a:r>
            <a:br/>
            <a:br/>
            <a:r>
              <a:t>❺ 視覺細節</a:t>
            </a:r>
            <a:br/>
            <a:r>
              <a:t>   • 草地顏色略有隨機變化</a:t>
            </a:r>
            <a:br/>
            <a:r>
              <a:t>   • 翻土有三條犁溝紋理</a:t>
            </a:r>
            <a:br/>
            <a:r>
              <a:t>   • 澆水有水光高亮</a:t>
            </a:r>
            <a:br/>
            <a:r>
              <a:t>   • 作物 5 階段視覺（含果實）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核心類別：Inventory &amp; ShippingBin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背包系統與經濟循環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029200" cy="292608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6DB74"/>
                </a:solidFill>
                <a:latin typeface="Consolas"/>
              </a:defRPr>
            </a:pPr>
            <a:r>
              <a:t>// Inventory.java — 背包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public class Inventory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int gold = 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int cropCount = 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void harvestCrop() { cropCount++;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public int sellAll()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int sold = cropCount;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if (sold &gt; 0) {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gold += sold * 10;  // 每個 10 G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    cropCount = 0;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    return sold;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54880"/>
            <a:ext cx="5029200" cy="13716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4754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6DB74"/>
                </a:solidFill>
                <a:latin typeface="Consolas"/>
              </a:defRPr>
            </a:pPr>
            <a:r>
              <a:t>// ShippingBin.java — 出貨箱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public class ShippingBin {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public final int row, col;</a:t>
            </a:r>
          </a:p>
          <a:p>
            <a:pPr>
              <a:spcAft>
                <a:spcPts val="100"/>
              </a:spcAft>
              <a:defRPr sz="1200">
                <a:solidFill>
                  <a:srgbClr val="E6DB74"/>
                </a:solidFill>
                <a:latin typeface="Consolas"/>
              </a:defRPr>
            </a:pPr>
            <a:r>
              <a:t>    // 繪製木箱本體 + 箱蓋 + 木紋 + 標籤</a:t>
            </a:r>
          </a:p>
          <a:p>
            <a:pPr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軟正黑體"/>
              </a:defRPr>
            </a:pPr>
            <a:r>
              <a:t>Inventory 設計：</a:t>
            </a:r>
            <a:br/>
            <a:br/>
            <a:r>
              <a:t>• 簡單的計數器：gold 與 cropCount</a:t>
            </a:r>
            <a:br/>
            <a:r>
              <a:t>• harvestCrop() 收成時 ++ 計數</a:t>
            </a:r>
            <a:br/>
            <a:r>
              <a:t>• sellAll() 將所有作物賣出，每個 10 G</a:t>
            </a:r>
            <a:br/>
            <a:br/>
            <a:r>
              <a:t>ShippingBin 設計：</a:t>
            </a:r>
            <a:br/>
            <a:br/>
            <a:r>
              <a:t>• 固定於地圖 (COLS-3, ROWS-3)</a:t>
            </a:r>
            <a:br/>
            <a:r>
              <a:t>• 使用 AWT Graphics 繪製木箱視覺</a:t>
            </a:r>
            <a:br/>
            <a:r>
              <a:t>• 玩家在相鄰格按 E 觸發交易</a:t>
            </a:r>
            <a:br/>
            <a:br/>
            <a:r>
              <a:t>經濟循環：</a:t>
            </a:r>
            <a:br/>
            <a:r>
              <a:t>  耕作 → 收成 → 出貨箱賣出</a:t>
            </a:r>
            <a:br/>
            <a:r>
              <a:t>  → 獲得金幣 → （未來）購買種子/工具</a:t>
            </a:r>
            <a:br/>
            <a:br/>
            <a:r>
              <a:t>互動流程 (GamePanel.interact)：</a:t>
            </a:r>
            <a:br/>
            <a:r>
              <a:t>  if 曼哈頓距離 ≤ 1:</a:t>
            </a:r>
            <a:br/>
            <a:r>
              <a:t>     inventory.sellAll()</a:t>
            </a:r>
            <a:br/>
            <a:r>
              <a:t>     showToast("賣出 X 個作物...")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耕作流程與狀態機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Farming State Machine — 完整生命週期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1645920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草地</a:t>
            </a:r>
            <a:br/>
            <a:r>
              <a:t>GRASS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011680"/>
            <a:ext cx="1645920" cy="9144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翻土</a:t>
            </a:r>
            <a:br/>
            <a:r>
              <a:t>TILLED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1645920" cy="914400"/>
          </a:xfrm>
          <a:prstGeom prst="rect">
            <a:avLst/>
          </a:prstGeom>
          <a:solidFill>
            <a:srgbClr val="78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播種</a:t>
            </a:r>
            <a:br/>
            <a:r>
              <a:t>PLANTED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1645920" cy="914400"/>
          </a:xfrm>
          <a:prstGeom prst="rect">
            <a:avLst/>
          </a:prstGeom>
          <a:solidFill>
            <a:srgbClr val="46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澆水</a:t>
            </a:r>
            <a:br/>
            <a:r>
              <a:t>WATERED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011680"/>
            <a:ext cx="1645920" cy="914400"/>
          </a:xfrm>
          <a:prstGeom prst="rect">
            <a:avLst/>
          </a:prstGeom>
          <a:solidFill>
            <a:srgbClr val="32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成長中</a:t>
            </a:r>
            <a:br/>
            <a:r>
              <a:t>GROWING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2011680"/>
            <a:ext cx="14630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成熟</a:t>
            </a:r>
            <a:br/>
            <a:r>
              <a:t>MATURE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18288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B71"/>
                </a:solidFill>
                <a:latin typeface="微軟正黑體"/>
              </a:defRPr>
            </a:pPr>
            <a:r>
              <a:t>J 鋤頭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18288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B9BD5"/>
                </a:solidFill>
                <a:latin typeface="微軟正黑體"/>
              </a:defRPr>
            </a:pPr>
            <a:r>
              <a:t>K 播種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8288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B9BD5"/>
                </a:solidFill>
                <a:latin typeface="微軟正黑體"/>
              </a:defRPr>
            </a:pPr>
            <a:r>
              <a:t>L 澆水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8288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A623"/>
                </a:solidFill>
                <a:latin typeface="微軟正黑體"/>
              </a:defRPr>
            </a:pPr>
            <a:r>
              <a:t>10 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8288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A623"/>
                </a:solidFill>
                <a:latin typeface="微軟正黑體"/>
              </a:defRPr>
            </a:pPr>
            <a:r>
              <a:t>每 2.5s</a:t>
            </a:r>
            <a:br/>
            <a:r>
              <a:t>×4 階段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200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微軟正黑體"/>
              </a:defRPr>
            </a:pPr>
            <a:r>
              <a:t>J 收成</a:t>
            </a:r>
            <a:br/>
            <a:r>
              <a:t>(循環)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微軟正黑體"/>
              </a:defRPr>
            </a:pPr>
            <a:r>
              <a:t>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狀態轉換說明：</a:t>
            </a: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▸ 僅 GRASS + NONE 狀態可接受「J 鋤頭」→ 變成 TILLED</a:t>
            </a: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▸ 僅 TILLED 狀態可接受「K 種子」→ 變成 PLANTED（作物：防風草）</a:t>
            </a: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▸ TILLED 或 PLANTED 可接受「L 澆水壺」→ 變成 WATERED</a:t>
            </a: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▸ WATERED + 有作物 → 等待 10 秒 → GROWING stage 1</a:t>
            </a: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▸ GROWING → 每 2.5 秒推進一階段 → stage 4 後 → MATURE</a:t>
            </a: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▸ MATURE 可接受「J 收成」→ 作物進背包，變回 TILLED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操作說明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Controls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0" cy="5486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onsolas"/>
              </a:defRPr>
            </a:pPr>
            <a:r>
              <a:t>W A S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874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軟正黑體"/>
              </a:defRPr>
            </a:pPr>
            <a:r>
              <a:t>移動角色（上／下／左／右）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06040"/>
            <a:ext cx="1828800" cy="54864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onsolas"/>
              </a:defRPr>
            </a:pPr>
            <a: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軟正黑體"/>
              </a:defRPr>
            </a:pPr>
            <a:r>
              <a:t>鋤頭（草地 → 翻土）／收成（成熟作物 → 背包）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83280"/>
            <a:ext cx="1828800" cy="54864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onsolas"/>
              </a:defRPr>
            </a:pPr>
            <a: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軟正黑體"/>
              </a:defRPr>
            </a:pPr>
            <a:r>
              <a:t>種子（翻土 → 播種）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60520"/>
            <a:ext cx="1828800" cy="54864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onsolas"/>
              </a:defRPr>
            </a:pPr>
            <a:r>
              <a:t>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軟正黑體"/>
              </a:defRPr>
            </a:pPr>
            <a:r>
              <a:t>澆水壺（播種後 → 澆水）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937760"/>
            <a:ext cx="182880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onsolas"/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軟正黑體"/>
              </a:defRPr>
            </a:pPr>
            <a:r>
              <a:t>互動（靠近出貨箱 → 賣出所有作物）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1C784"/>
                </a:solidFill>
                <a:latin typeface="微軟正黑體"/>
              </a:defRPr>
            </a:pPr>
            <a:r>
              <a:t>💡 提示：操作成功時畫面中央會顯示 Toast 提示訊息（2.5 秒）</a:t>
            </a:r>
            <a:br/>
            <a:r>
              <a:t>   靠近出貨箱（右下角木箱）按 E 可將背包作物變現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Screenshots &amp;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solidFill>
            <a:srgbClr val="2D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微軟正黑體"/>
              </a:defRPr>
            </a:pPr>
            <a:r>
              <a:t>🖼 畫面渲染層次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1. 地圖底層（WALL 棕色石牆 + GRASS 綠色草地）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2. 農場狀態疊層（翻土棕色、播種深褐、澆水深紫）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3. 作物繪製（4 階段莖葉 + 成熟金黃果實）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4. 出貨箱（木箱視覺 + 文字標籤）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5. 玩家角色（藍襯衫 + 膚色頭 + 面向箭頭）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6. UI 疊層（半透明頂欄 + 金幣/背包/操作提示）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7. Toast 訊息（畫面中央 2.5 秒）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754880"/>
          </a:xfrm>
          <a:prstGeom prst="rect">
            <a:avLst/>
          </a:prstGeom>
          <a:solidFill>
            <a:srgbClr val="2D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微軟正黑體"/>
              </a:defRPr>
            </a:pPr>
            <a:r>
              <a:t>⚡ 技術亮點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固定 60 FPS 遊戲迴圈 + Delta Time 機制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邊緣觸發 (Edge Trigger) 按鍵系統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Grid-based 碰撞偵測（不可穿越圍牆）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狀態機驅動的耕作系統（6 階段）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時間驅動作物成長（10s→萌芽，2.5s/階段）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背包 + 金幣經濟循環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純 AWT Graphics 繪製，無外部資源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模組化類別設計，職責單一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微軟正黑體"/>
              </a:defRPr>
            </a:pPr>
            <a:r>
              <a:t>✅ 中文註解 + Toast 即時回饋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A38"/>
                </a:solidFill>
                <a:latin typeface="微軟正黑體"/>
              </a:defRPr>
            </a:pPr>
            <a:r>
              <a:t>未來展望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A38"/>
                </a:solidFill>
                <a:latin typeface="微軟正黑體"/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🌱 更多作物種類（番茄、草莓、南瓜等，各自不同成長週期與售價）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🏗 更多工具（斧頭砍樹、十字鎬挖礦、釣竿釣魚）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🗺 更大多元地圖（森林、湖泊、礦區、村民房屋）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👨‍🌾 NPC 村民系統（對話、送禮、好感度）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📅 季節與天氣系統（春夏秋冬 + 晴雨雪）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🔊 音效與背景音樂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🎮 滑鼠支援（點擊移動、點擊耕作）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💾 存檔／讀檔（Serialization 或 JSON）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🖼 圖片資源取代程式繪圖（Sprite / TileSet）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軟正黑體"/>
              </a:defRPr>
            </a:pPr>
            <a:r>
              <a:t>🌐 在地化支援（正體中文／英文切換）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農場物語 — Java 2D 簡易農場遊戲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27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7315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B71"/>
                </a:solidFill>
                <a:latin typeface="微軟正黑體"/>
              </a:defRPr>
            </a:pPr>
            <a:r>
              <a:t>感謝聆聽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微軟正黑體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C784"/>
                </a:solidFill>
                <a:latin typeface="微軟正黑體"/>
              </a:defRPr>
            </a:pPr>
            <a:r>
              <a:t>以 Java Swing/AWT 實作之 2D 簡易農場遊戲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軟正黑體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